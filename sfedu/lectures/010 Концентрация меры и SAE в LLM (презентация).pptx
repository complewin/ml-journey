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Лекция связывает классическую теорию концентрации меры в банаховых пространствах с исследованиями 2023–2024 в области mechanistic interpretability. Путь от геометрии гиперсфер к пониманию того, как LLaMA-3 и GPT-4 упаковывают миллионы понятий в векторы активаций фиксированной размерности.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</a:t>
            </a:r>
            <a:r>
              <a:rPr lang="en-US"/>
              <a:t> пространствах эмбеддингов шар пуст внутри — он ведет себя не как твердое яблоко, а как мыльный пузырь. Любая случайная точка неизбежно лежит на границе. Какую бы ось мы ни выбрали «полюсом», почти вся поверхность сферы проецируется в окрестность нуля этой оси шириной порядка 1/√d.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Матожидание 0 и дисперсия 1/d точны для любой размерности! При росте d распределение становится неотличимо от нормального. При d=4096 типичное случайное скалярное произведение отклоняется от нуля всего на 1/√4096 = 1/64 ≈ 0.0156. Случайные векторы почти строго перпендикулярны.</a:t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Сила экспоненты: d=4096, порог ε=0.1 → показатель dε²/2 = 20.48. Вероятность встретить пару с косинусом больше 0.1: 2e^−20.48 ≈ 2.5×10⁻⁹. Случайное появление угла, отличного от 90° хотя бы на 6°, практически исключено.</a:t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Фундаментальный концептуальный мост к нейросетям: геометрия высокой размерности позволяет хранить экспоненциально много независимых сигналов в одном векторе, если система согласна терпеть шум интерференции порядка ε.</a:t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Частый вопрос: «Почему порог косинуса часто ставят всего 0.3–0.4?» Ответ в размерности: при d=1536 косинус 0.3 отстоит от среднего шума более чем на 11 сигм! Примечание: в реальных моделях есть анизотропия (общее смещение среднего направления), но после центрирования дисперсия шума подчиняется закону 1/d.</a:t>
            </a:r>
            <a:endParaRPr/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Фундаментальный дуализм: концентрация меры делает косинусную метрику сверхинформативной, но разрушает относительный контраст расстояний в k-NN. Спасение — гипотеза многообразий: данные сосредоточены на низкоразмерных нелинейных подмногообразиях, а не равномерно по всему R^d.</a:t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Ранние теории предполагали «нейроны бабушки» (grandmother cells). Линейная алгебра исключает такую возможность при реальных масштабах. Выход: концепты не привязаны к осям нейронов — это направления, упакованные с частичным перекрытием.</a:t>
            </a:r>
            <a:endParaRPr/>
          </a:p>
        </p:txBody>
      </p:sp>
      <p:sp>
        <p:nvSpPr>
          <p:cNvPr id="115" name="Google Shape;1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Суперпозиция математически невозможна без разреженности. Если бы одновременно активировались тысячи понятий, суммарный шум интерференции уничтожил бы сигнал. Поскольку реальный мир разрежен, шум остается подпороговым.</a:t>
            </a:r>
            <a:endParaRPr/>
          </a:p>
        </p:txBody>
      </p:sp>
      <p:sp>
        <p:nvSpPr>
          <p:cNvPr id="130" name="Google Shape;1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Вот почему нейросетям необходимы функции активации с нулевым насыщением слева (ReLU, GeLU, SwiGLU): они работают как аналоговые шумоподавители. Без нелинейности шум интерференции накапливался бы от слоя к слою и разрушил вычисления.</a:t>
            </a:r>
            <a:endParaRPr/>
          </a:p>
        </p:txBody>
      </p:sp>
      <p:sp>
        <p:nvSpPr>
          <p:cNvPr id="142" name="Google Shape;1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Аналогия: спектр радуги, спроецированный на две случайные оси датчика — красный и зеленый дают одинаковые проекции. Чтобы понять изображение, нужен переход к цветовому базису RGB. В LLM инструмент смены базиса — Sparse Autoencoder.</a:t>
            </a:r>
            <a:endParaRPr/>
          </a:p>
        </p:txBody>
      </p:sp>
      <p:sp>
        <p:nvSpPr>
          <p:cNvPr id="160" name="Google Shape;1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Параллель с компрессионным зондированием (Compressed Sensing): исходный вектор признаков уже разрежен, поэтому из d=4096 измерений можно однозначно восстановить вектор D=65536. SAE обучается на сохраненных активациях LLM при прогоне терабайтов текста.</a:t>
            </a:r>
            <a:endParaRPr/>
          </a:p>
        </p:txBody>
      </p:sp>
      <p:sp>
        <p:nvSpPr>
          <p:cNvPr id="175" name="Google Shape;1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Top-K от OpenAI стал индустриальным стандартом лета 2024: устранил капризный подбор λ. Инженер фиксирует бюджет: «не более 64 активных понятий на токен из словаря в 100 тысяч». Это стабилизировало градиенты и сделало фичи математически чистыми.</a:t>
            </a:r>
            <a:endParaRPr/>
          </a:p>
        </p:txBody>
      </p:sp>
      <p:sp>
        <p:nvSpPr>
          <p:cNvPr id="191" name="Google Shape;1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Исторический перелом в AI Safety: нейросети перестают быть черным ящиком. Теперь можно найти вектор «попытка написать эксплойт», отслеживать его в реальном времени и вычитать из активаций (ablation), гарантируя отсутствие вредоносного вывода на уровне внутреннего представления.</a:t>
            </a:r>
            <a:endParaRPr/>
          </a:p>
        </p:txBody>
      </p:sp>
      <p:sp>
        <p:nvSpPr>
          <p:cNvPr id="206" name="Google Shape;2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2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7.png"/><Relationship Id="rId5" Type="http://schemas.openxmlformats.org/officeDocument/2006/relationships/image" Target="../media/image4.png"/><Relationship Id="rId6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3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2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02927" y="411475"/>
            <a:ext cx="8175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Концентрация меры на сфере, суперпозиция и Sparse Autoencoders в LLM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5" y="2514600"/>
            <a:ext cx="4104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От геометрии высоких размерностей к интерпретируемости современных языковых моделей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img/01-title-hypersphere-sae.png" id="19" name="Google Shape;19;p3"/>
          <p:cNvPicPr preferRelativeResize="0"/>
          <p:nvPr/>
        </p:nvPicPr>
        <p:blipFill rotWithShape="1">
          <a:blip r:embed="rId3">
            <a:alphaModFix/>
          </a:blip>
          <a:srcRect b="62123" l="0" r="0" t="10882"/>
          <a:stretch/>
        </p:blipFill>
        <p:spPr>
          <a:xfrm>
            <a:off x="4723950" y="2153450"/>
            <a:ext cx="4355975" cy="210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502925" y="137155"/>
            <a:ext cx="82296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Интуиция высокой размерности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02920" y="914400"/>
            <a:ext cx="5760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Интуиция R² и R³ фатально подводит в R</a:t>
            </a:r>
            <a:r>
              <a:rPr b="0" baseline="3000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при d ≫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78350F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Единичный шар B</a:t>
            </a:r>
            <a:r>
              <a:rPr b="0" baseline="3000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= {x : ‖x‖₂ ≤ 1}, его граница — гиперсфера S</a:t>
            </a:r>
            <a:r>
              <a:rPr b="0" baseline="3000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d−1</a:t>
            </a:r>
            <a:endParaRPr b="0" baseline="30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78350F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Экваториальный пояс: почти вся площадь сферы сжата в полосе шириной O(1/√d)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02925" y="2563975"/>
            <a:ext cx="5760600" cy="24195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31520" y="2770632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Феномен тонкой оболочки (Thin Shell)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2a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9" y="3085742"/>
            <a:ext cx="3310699" cy="51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sg/work/MLmag/010 concentration/pptx_build/math/s02b.png"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7" y="3753276"/>
            <a:ext cx="4135906" cy="51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731520" y="4401312"/>
            <a:ext cx="5303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Пример: d = 1000, ε = 0.01 → 1 − 0.99¹⁰⁰⁰ ≈ 0.999957 — </a:t>
            </a:r>
            <a:b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более 99.99% объема во внешнем 1%-слое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img/02-thin-shell-hypersphere.png" id="33" name="Google Shape;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8875" y="854750"/>
            <a:ext cx="2672749" cy="4170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303025" y="137150"/>
            <a:ext cx="8733000" cy="11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Скалярное произведение векторов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02920" y="838200"/>
            <a:ext cx="5852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u, v ~ Unif(S^{d−1}) — независимые случайные векторы единичной длины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78350F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По изотропности сферы фиксируем u = (1, 0, …, 0):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3a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89760"/>
            <a:ext cx="5027073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502920" y="2267712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None/>
            </a:pP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Генерация равномерной точки: X ~ N(0, I_d), v = X / ‖X‖₂: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" name="Google Shape;44;p5"/>
          <p:cNvGrpSpPr/>
          <p:nvPr/>
        </p:nvGrpSpPr>
        <p:grpSpPr>
          <a:xfrm>
            <a:off x="502925" y="2654800"/>
            <a:ext cx="3801600" cy="777300"/>
            <a:chOff x="502925" y="2654800"/>
            <a:chExt cx="3801600" cy="777300"/>
          </a:xfrm>
        </p:grpSpPr>
        <p:sp>
          <p:nvSpPr>
            <p:cNvPr id="45" name="Google Shape;45;p5"/>
            <p:cNvSpPr/>
            <p:nvPr/>
          </p:nvSpPr>
          <p:spPr>
            <a:xfrm>
              <a:off x="502925" y="2654800"/>
              <a:ext cx="3801600" cy="777300"/>
            </a:xfrm>
            <a:prstGeom prst="rect">
              <a:avLst/>
            </a:prstGeom>
            <a:solidFill>
              <a:srgbClr val="F9F2EB"/>
            </a:solidFill>
            <a:ln cap="flat" cmpd="sng" w="12700">
              <a:solidFill>
                <a:srgbClr val="D5D0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/home/sg/work/MLmag/010 concentration/pptx_build/math/s03b.png" id="46" name="Google Shape;46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7323" y="2727950"/>
              <a:ext cx="3363363" cy="658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5"/>
          <p:cNvSpPr/>
          <p:nvPr/>
        </p:nvSpPr>
        <p:spPr>
          <a:xfrm>
            <a:off x="502930" y="3455962"/>
            <a:ext cx="5767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lang="en-US" sz="18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В силу симметрии точные моменты</a:t>
            </a: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при любом d: E[v₁] = 0, Var⟨u, v⟩ = Var v</a:t>
            </a:r>
            <a:r>
              <a:rPr b="0" baseline="-2500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= E </a:t>
            </a:r>
            <a:r>
              <a:rPr lang="en-US" sz="18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aseline="-25000" lang="en-US" sz="18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baseline="3000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= 1/d E</a:t>
            </a:r>
            <a:r>
              <a:rPr lang="en-US" sz="18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‖</a:t>
            </a: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8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‖</a:t>
            </a:r>
            <a:r>
              <a:rPr baseline="30000" lang="en-US" sz="18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= 1/d. </a:t>
            </a:r>
            <a:endParaRPr b="0" i="0" sz="1800" u="none" cap="none" strike="noStrike">
              <a:solidFill>
                <a:srgbClr val="7835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По ЗБЧ и теореме Слуцкого при d → ∞: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" name="Google Shape;48;p5"/>
          <p:cNvGrpSpPr/>
          <p:nvPr/>
        </p:nvGrpSpPr>
        <p:grpSpPr>
          <a:xfrm>
            <a:off x="502925" y="4298625"/>
            <a:ext cx="4247400" cy="777300"/>
            <a:chOff x="426725" y="4298625"/>
            <a:chExt cx="4247400" cy="777300"/>
          </a:xfrm>
        </p:grpSpPr>
        <p:sp>
          <p:nvSpPr>
            <p:cNvPr id="49" name="Google Shape;49;p5"/>
            <p:cNvSpPr/>
            <p:nvPr/>
          </p:nvSpPr>
          <p:spPr>
            <a:xfrm>
              <a:off x="426725" y="4298625"/>
              <a:ext cx="4247400" cy="777300"/>
            </a:xfrm>
            <a:prstGeom prst="rect">
              <a:avLst/>
            </a:prstGeom>
            <a:solidFill>
              <a:srgbClr val="F9F2EB"/>
            </a:solidFill>
            <a:ln cap="flat" cmpd="sng" w="12700">
              <a:solidFill>
                <a:srgbClr val="D5D0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/home/sg/work/MLmag/010 concentration/pptx_build/math/s03c.png" id="50" name="Google Shape;50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9125" y="4407478"/>
              <a:ext cx="3908375" cy="625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/home/sg/work/MLmag/010 concentration/img/03-inner-product-density.png" id="51" name="Google Shape;5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6399" y="1123925"/>
            <a:ext cx="2179699" cy="390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502925" y="137156"/>
            <a:ext cx="8229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Экспоненциальные хвосты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02920" y="838200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Неравенство Леви: L-липшицевая f : S</a:t>
            </a:r>
            <a:r>
              <a:rPr b="1" baseline="30000" i="0" lang="en-US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d−1</a:t>
            </a:r>
            <a:r>
              <a:rPr b="1" i="0" lang="en-US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 → 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4a.png"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46" y="1203946"/>
            <a:ext cx="3837313" cy="5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502920" y="1752600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Хвост скалярного произведения (f — 1-липшицева):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4b.png" id="62" name="Google Shape;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725" y="2100075"/>
            <a:ext cx="7288620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sg/work/MLmag/010 concentration/pptx_build/math/s04c.png" id="63" name="Google Shape;6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43" y="2502719"/>
            <a:ext cx="3524192" cy="62843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502924" y="3246125"/>
            <a:ext cx="4454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Геометрический смысл: </a:t>
            </a:r>
            <a:endParaRPr b="0" i="0" sz="1700" u="none" cap="none" strike="noStrike">
              <a:solidFill>
                <a:srgbClr val="7835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вероятность отклонения косинуса на ε падает экспоненциально по d. Случайные векторы изолированы в узком диапазоне углов </a:t>
            </a:r>
            <a:b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[π/2 − ε, π/2 + ε].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img/04-measure-concentration-cap.png" id="65" name="Google Shape;6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7609" y="2886350"/>
            <a:ext cx="4186401" cy="23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479115" y="4676350"/>
            <a:ext cx="4533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500"/>
              <a:buFont typeface="Calibri"/>
              <a:buNone/>
            </a:pPr>
            <a:r>
              <a:rPr b="0" i="1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Пример: d = 4096, ε = 0.1 → P ≈ 2e⁻²⁰·⁴⁸ ≈ 2.5×10⁻⁹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502920" y="13716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Парадокс ортогональности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02925" y="914400"/>
            <a:ext cx="5130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Строгая ортогональность: в R</a:t>
            </a:r>
            <a:r>
              <a:rPr b="0" baseline="3000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не более M = d попарно ортогональных векторов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ε-ортогональность: |⟨uᵢ, uⱼ⟩| ≤ ε при всех i ≠ j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Теорема об упаковке: существует семейство из M единичных </a:t>
            </a:r>
            <a: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ε-ортогональных</a:t>
            </a: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векторов</a:t>
            </a:r>
            <a: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такое, что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5a.png"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3710" y="2371353"/>
            <a:ext cx="1911096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/>
          <p:nvPr/>
        </p:nvSpPr>
        <p:spPr>
          <a:xfrm>
            <a:off x="502923" y="2941325"/>
            <a:ext cx="518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Доказательство — вероятностный метод (Union Bound):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5b.png" id="77" name="Google Shape;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5" y="3245950"/>
            <a:ext cx="7665846" cy="66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sg/work/MLmag/010 concentration/pptx_build/math/s05c.png" id="78" name="Google Shape;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7" y="3981730"/>
            <a:ext cx="3125500" cy="4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/>
          <p:nvPr/>
        </p:nvSpPr>
        <p:spPr>
          <a:xfrm>
            <a:off x="4161830" y="3915260"/>
            <a:ext cx="5532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Если правая часть &lt; 1, противоположное событие имеет ненулевую вероятность, </a:t>
            </a:r>
            <a:r>
              <a:rPr lang="en-US" sz="16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значит набор</a:t>
            </a: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гарантированно существует.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img/05-packing-boundary-capacity.png" id="80" name="Google Shape;8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0899" y="936475"/>
            <a:ext cx="3664156" cy="1554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 txBox="1"/>
          <p:nvPr/>
        </p:nvSpPr>
        <p:spPr>
          <a:xfrm>
            <a:off x="1752600" y="4648200"/>
            <a:ext cx="61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Масштаб: ε = 0.1, d = 4096 → M = e¹⁰·²⁴ ≈ 28 000 направлений.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502920" y="13716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Почему косинусная близость надежна?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02920" y="12954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В RAG и эмбеддингах сходство измеряется косинусом: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6a.png"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42" y="1679452"/>
            <a:ext cx="2895426" cy="6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/>
          <p:nvPr/>
        </p:nvSpPr>
        <p:spPr>
          <a:xfrm>
            <a:off x="502920" y="2441448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Калибровка H₀: если тексты не связаны, эмбеддинги </a:t>
            </a:r>
            <a:b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ведут себя как случайные векторы, cos θ ~ N(0, 1/d).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02925" y="3115524"/>
            <a:ext cx="5852100" cy="11823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731520" y="3230880"/>
            <a:ext cx="539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Calibri"/>
              <a:buNone/>
            </a:pPr>
            <a:r>
              <a:rPr b="1" i="0" lang="en-US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OpenAI text-embedding-3-small (d = 1536), cos = 0.20: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6b.png" id="94" name="Google Shape;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7" y="3581506"/>
            <a:ext cx="1676475" cy="423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sg/work/MLmag/010 concentration/pptx_build/math/s06c.png" id="95" name="Google Shape;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0496" y="3576718"/>
            <a:ext cx="2240300" cy="39100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/>
          <p:nvPr/>
        </p:nvSpPr>
        <p:spPr>
          <a:xfrm>
            <a:off x="731520" y="4059936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p ≈ 2.2×10⁻¹⁵ — случайное появление практически исключено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02927" y="4407400"/>
            <a:ext cx="84321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5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Инженерный вывод: в R³ косинус 0.20 — шум (0.35σ); в d = 1536 — подавляющий статистический сигнал (7.84σ).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img/06-cosine-noise-gaussian.png" id="98" name="Google Shape;98;p8"/>
          <p:cNvPicPr preferRelativeResize="0"/>
          <p:nvPr/>
        </p:nvPicPr>
        <p:blipFill rotWithShape="1">
          <a:blip r:embed="rId6">
            <a:alphaModFix/>
          </a:blip>
          <a:srcRect b="0" l="0" r="0" t="16847"/>
          <a:stretch/>
        </p:blipFill>
        <p:spPr>
          <a:xfrm>
            <a:off x="5473484" y="1390774"/>
            <a:ext cx="3624749" cy="168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502925" y="137150"/>
            <a:ext cx="85020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Проклятие размерности для k-NN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02920" y="914400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Концентрация евклидовых расстояний: </a:t>
            </a:r>
            <a:b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E‖X−Y‖² = μd, Var = σ²d — обе величины Θ(d):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7a.png"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45" y="1611134"/>
            <a:ext cx="4784625" cy="6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/>
          <p:nvPr/>
        </p:nvSpPr>
        <p:spPr>
          <a:xfrm>
            <a:off x="502920" y="2505456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Теорема Бейера (Beyer et al., 1999):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7b.png" id="109" name="Google Shape;1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7" y="2834653"/>
            <a:ext cx="5185357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502920" y="3822192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Следствие: контраст расстояний исчезает — ближайший сосед почти на том же расстоянии, что и самый далекий. Классический k-NN в однородном пространстве перестает работать.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img/07-knn-dimension-curse.png" id="111" name="Google Shape;11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7798" y="744400"/>
            <a:ext cx="2434049" cy="4361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502925" y="137152"/>
            <a:ext cx="82296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Емкость в LLM: парадокс размерности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502920" y="1524000"/>
            <a:ext cx="5440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Сколько независимых концептов должна понимать модель?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Фактические знания: персоналии, события (&gt; 10⁷)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Лингвистика: идиомы, морфология, синтаксис (&gt; 10⁵)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Программирование: библиотеки, десятки языков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Абстракции: сарказм, вежливость, безопасность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Линейный парадокс: </a:t>
            </a:r>
            <a:b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ортогональный базис → не более 4096 признаков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350525" y="4023350"/>
            <a:ext cx="5212200" cy="9144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502920" y="4096512"/>
            <a:ext cx="4983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Как тогда нейросеть представляет миллионы понятий в векторе из нескольких тысяч чисел?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6172200" y="1066800"/>
            <a:ext cx="2606100" cy="8688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6355080" y="1130808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d = 4096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LLaMA-3-8B, residual stream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6172200" y="2072640"/>
            <a:ext cx="2606100" cy="8688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6355080" y="2136648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d ≈ 8192–12288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GPT-4, порядок размерности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img/08-residual-stream-bottleneck.png"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6127" y="3170050"/>
            <a:ext cx="3457874" cy="192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502925" y="137156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Гипотеза суперпозиции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373650" y="3390900"/>
            <a:ext cx="5034000" cy="13563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5" name="Google Shape;135;p11"/>
          <p:cNvSpPr/>
          <p:nvPr/>
        </p:nvSpPr>
        <p:spPr>
          <a:xfrm>
            <a:off x="570294" y="3499408"/>
            <a:ext cx="46407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400"/>
              <a:buFont typeface="Calibri"/>
              <a:buNone/>
            </a:pPr>
            <a:r>
              <a:rPr b="0" i="1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«Сети представляют значительно больше признаков, чем у них есть измерений (M ≫ d), упаковывая их как почти ортогональные направления в пространстве активаций».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502925" y="868675"/>
            <a:ext cx="8370000" cy="2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1. Линейное представление: </a:t>
            </a:r>
            <a:b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концепт (понятие) i — единичный вектор направления wᵢ, сила — активация fᵢ ≥ 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78350F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2. Почти ортогональность </a:t>
            </a:r>
            <a: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концептов</a:t>
            </a: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— околонулевая интерференция:</a:t>
            </a:r>
            <a:endParaRPr b="0" i="0" sz="1700" u="none" cap="none" strike="noStrike">
              <a:solidFill>
                <a:srgbClr val="7835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78350F"/>
              </a:buClr>
              <a:buSzPts val="1400"/>
              <a:buFont typeface="Calibri"/>
              <a:buNone/>
            </a:pPr>
            <a:r>
              <a:t/>
            </a:r>
            <a:endParaRPr sz="1700">
              <a:solidFill>
                <a:srgbClr val="7835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78350F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3. Разреженность реального мира: </a:t>
            </a:r>
            <a: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в любом конкретном токене активно лишь исчезающе малое число понятий</a:t>
            </a: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k ≪ d ≪ M </a:t>
            </a:r>
            <a: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(текст </a:t>
            </a:r>
            <a:b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о квантовой физике не содержит признаков </a:t>
            </a:r>
            <a:b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рецепта пиццы или ремонта авто)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09a.png"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3546" y="1813546"/>
            <a:ext cx="4208502" cy="256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sg/work/MLmag/010 concentration/img/09-superposition-icosaedr.png" id="138" name="Google Shape;138;p11"/>
          <p:cNvPicPr preferRelativeResize="0"/>
          <p:nvPr/>
        </p:nvPicPr>
        <p:blipFill rotWithShape="1">
          <a:blip r:embed="rId4">
            <a:alphaModFix/>
          </a:blip>
          <a:srcRect b="28270" l="0" r="0" t="22606"/>
          <a:stretch/>
        </p:blipFill>
        <p:spPr>
          <a:xfrm>
            <a:off x="5786600" y="2438950"/>
            <a:ext cx="3002200" cy="264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502925" y="137156"/>
            <a:ext cx="82296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Математика суперпозиции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502925" y="838200"/>
            <a:ext cx="8184000" cy="20832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"/>
          <p:cNvSpPr/>
          <p:nvPr/>
        </p:nvSpPr>
        <p:spPr>
          <a:xfrm>
            <a:off x="731520" y="893064"/>
            <a:ext cx="7726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Скрытое состояние — сумма активных признаков; считывание — проекция на wᵢ: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10a.png" id="148" name="Google Shape;1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5" y="1222250"/>
            <a:ext cx="4290798" cy="62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sg/work/MLmag/010 concentration/pptx_build/math/s10b.png" id="149" name="Google Shape;14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534" y="1774571"/>
            <a:ext cx="6444901" cy="74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2"/>
          <p:cNvSpPr/>
          <p:nvPr/>
        </p:nvSpPr>
        <p:spPr>
          <a:xfrm>
            <a:off x="655320" y="2542032"/>
            <a:ext cx="7726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где ηᵢ — шум интерференции (Crosstalk Noise)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502925" y="3107849"/>
            <a:ext cx="4069200" cy="18756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655325" y="3197350"/>
            <a:ext cx="3728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Статистика шума при k активных признаках: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10c.png" id="153" name="Google Shape;15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5" y="3437958"/>
            <a:ext cx="3611875" cy="5427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2"/>
          <p:cNvSpPr/>
          <p:nvPr/>
        </p:nvSpPr>
        <p:spPr>
          <a:xfrm>
            <a:off x="731520" y="4130040"/>
            <a:ext cx="3612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std(ηᵢ) ≈ √(k/d)·RMS(f); при k = 50, d = 4096 → √(k/d) ≈ 0.11 — шум мал и отсекается нелинейностью: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10d.png" id="155" name="Google Shape;15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5520" y="4565904"/>
            <a:ext cx="1701860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sg/work/MLmag/010 concentration/img/10-interference-noise-relu.png" id="156" name="Google Shape;15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2876" y="3107850"/>
            <a:ext cx="4421122" cy="187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502925" y="137156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Полисемантичность нейронов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502927" y="914400"/>
            <a:ext cx="80982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Один нейрон реагирует на разнородные паттерны: имена римских императоров</a:t>
            </a:r>
            <a:r>
              <a:rPr lang="en-US" sz="16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def __init__ в Python</a:t>
            </a:r>
            <a:r>
              <a:rPr lang="en-US" sz="16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блюда корейской кухни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Нейроны — лишь произвольные ортогональные оси e₁, …, e</a:t>
            </a:r>
            <a:r>
              <a:rPr b="0" baseline="-2500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; активация k-го нейрона: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11a.png" id="165" name="Google Shape;1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1" y="1737749"/>
            <a:ext cx="3008750" cy="7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/>
          <p:nvPr/>
        </p:nvSpPr>
        <p:spPr>
          <a:xfrm>
            <a:off x="502923" y="2499350"/>
            <a:ext cx="363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Нейрон активируется, когда активно любое из понятий с ненулевой проекцией на ось e</a:t>
            </a:r>
            <a:r>
              <a:rPr b="0" baseline="-2500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502925" y="4590350"/>
            <a:ext cx="8229600" cy="4236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824394" y="4639772"/>
            <a:ext cx="75867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Вывод: нужен правильный словарь направлений {wⱼ}, а не оси нейронов.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img/11-polysemantic-vs-monosemantic.png" id="169" name="Google Shape;1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9774" y="2183100"/>
            <a:ext cx="4784749" cy="202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3"/>
          <p:cNvSpPr/>
          <p:nvPr/>
        </p:nvSpPr>
        <p:spPr>
          <a:xfrm>
            <a:off x="482725" y="3322325"/>
            <a:ext cx="3760800" cy="11919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712979" y="3379073"/>
            <a:ext cx="33003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200"/>
              <a:buFont typeface="Calibri"/>
              <a:buNone/>
            </a:pPr>
            <a:r>
              <a:rPr b="0" i="1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Аналогия: спектр радуги на двух случайных осях датчика. Чтобы различить цвета, нужен базис RGB — в LLM эту роль играет SAE.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502925" y="137150"/>
            <a:ext cx="8502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Архитектура Sparse Autoencoders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502926" y="914325"/>
            <a:ext cx="5623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5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Задача: без учителя разложить плотный вектор </a:t>
            </a:r>
            <a:b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x ∈ R</a:t>
            </a:r>
            <a:r>
              <a:rPr b="0" baseline="3000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на разреженный словарь понятий f(x) ∈ R</a:t>
            </a:r>
            <a:r>
              <a:rPr b="0" baseline="3000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, где D ≫ d (Bricken et al., Anthropic, 2023).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274320" y="1935480"/>
            <a:ext cx="5852100" cy="9144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502920" y="2008632"/>
            <a:ext cx="5394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Энкодер: активация → сверхширокое пространство признаков </a:t>
            </a:r>
            <a:br>
              <a:rPr b="1" i="0" lang="en-US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(b</a:t>
            </a:r>
            <a:r>
              <a:rPr b="1" baseline="-25000" i="0" lang="en-US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dec</a:t>
            </a:r>
            <a:r>
              <a:rPr b="1" i="0" lang="en-US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 центрирует вход)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12a.png"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5" y="2484125"/>
            <a:ext cx="5194405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/>
          <p:nvPr/>
        </p:nvSpPr>
        <p:spPr>
          <a:xfrm>
            <a:off x="274325" y="2941326"/>
            <a:ext cx="5852100" cy="12993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502920" y="3014472"/>
            <a:ext cx="5394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Декодер: восстановление как линейная комбинация моносемантичных направлений (dᵢ — нормированные столбцы, ‖dᵢ‖ = 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12b.png" id="185" name="Google Shape;1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5" y="3471675"/>
            <a:ext cx="5266032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/>
          <p:nvPr/>
        </p:nvSpPr>
        <p:spPr>
          <a:xfrm>
            <a:off x="426727" y="4495800"/>
            <a:ext cx="807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Коэффициент расширения: d = 4096 → D = 65 536 (16×) или D = 131 072 (32×)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7420" y="883850"/>
            <a:ext cx="2484180" cy="319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502925" y="137156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Функция потерь SAE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502925" y="990600"/>
            <a:ext cx="8229600" cy="21141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sg/work/MLmag/010 concentration/pptx_build/math/s13a.png" id="196" name="Google Shape;1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9" y="1082059"/>
            <a:ext cx="6657051" cy="8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/>
          <p:nvPr/>
        </p:nvSpPr>
        <p:spPr>
          <a:xfrm>
            <a:off x="824399" y="2164078"/>
            <a:ext cx="7586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‖x − x̂‖² — признаки содержат всю информацию слоя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λ‖f(x)‖₁ — индуцирует разреженность, зануляет шум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78350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λ — компромисс: качество vs число активных признаков L₀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502927" y="327659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Проблема ℓ₁ — эффект усадки (Shrinkage): λ|fᵢ| занижает амплитуду даже активных признаков.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502927" y="3947153"/>
            <a:ext cx="8229600" cy="9600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824399" y="4011161"/>
            <a:ext cx="758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Современные архитектуры (2024): Top-K SAE (OpenAI) — отказ от ℓ₁: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13b.png" id="201" name="Google Shape;2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4312920"/>
            <a:ext cx="4959340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5"/>
          <p:cNvSpPr/>
          <p:nvPr/>
        </p:nvSpPr>
        <p:spPr>
          <a:xfrm>
            <a:off x="824399" y="4605519"/>
            <a:ext cx="758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Gated / JumpReLU (DeepMind / Anthropic): раздельные гейт и амплитуда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F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502925" y="137156"/>
            <a:ext cx="82296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Golden Gate Claude и GPT-</a:t>
            </a:r>
            <a:r>
              <a:rPr b="1" lang="en-US" sz="3600">
                <a:solidFill>
                  <a:srgbClr val="78350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02925" y="971200"/>
            <a:ext cx="4533000" cy="28902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" name="Google Shape;211;p16"/>
          <p:cNvSpPr/>
          <p:nvPr/>
        </p:nvSpPr>
        <p:spPr>
          <a:xfrm>
            <a:off x="760493" y="1062272"/>
            <a:ext cx="40179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Golden Gate Claude (Anthropic)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619090" y="1573350"/>
            <a:ext cx="4299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SAE обучен на активациях Claude 3 Sonnet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Изолирована фича «Мост Золотые Ворота»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Feature Steering — фиксация фичи на высоком уровне: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g/work/MLmag/010 concentration/pptx_build/math/s14a.png"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2633472"/>
            <a:ext cx="2166425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/>
          <p:nvPr/>
        </p:nvSpPr>
        <p:spPr>
          <a:xfrm>
            <a:off x="760494" y="3235507"/>
            <a:ext cx="40179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200"/>
              <a:buFont typeface="Calibri"/>
              <a:buNone/>
            </a:pPr>
            <a:r>
              <a:rPr b="0" i="1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i="1" lang="en-US" sz="16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на любой нейтральный запрос («Как сварить кофе?») Claude отвечает через образы моста Золотые Ворота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5196850" y="971200"/>
            <a:ext cx="3518100" cy="28902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6" name="Google Shape;216;p16"/>
          <p:cNvSpPr/>
          <p:nvPr/>
        </p:nvSpPr>
        <p:spPr>
          <a:xfrm>
            <a:off x="5425448" y="1062275"/>
            <a:ext cx="28389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GPT-4 (OpenAI, июнь 2024)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5396738" y="1573351"/>
            <a:ext cx="3118200" cy="21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16 000 000 моносемантичных признаков (16M Top-K SAE)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Уязвимости ПО: SQL-инъекции, переполнение буфера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Манипуляции, обман, лесть (sycophancy)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78350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Абстракции: теория струн, юр. ответственность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502925" y="4175750"/>
            <a:ext cx="8184000" cy="719400"/>
          </a:xfrm>
          <a:prstGeom prst="rect">
            <a:avLst/>
          </a:prstGeom>
          <a:solidFill>
            <a:srgbClr val="F9F2EB"/>
          </a:solidFill>
          <a:ln cap="flat" cmpd="sng" w="12700">
            <a:solidFill>
              <a:srgbClr val="D5D0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892633" y="4220025"/>
            <a:ext cx="7404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Контроль безопасности (Feature Ablation): обнуление вектора опасного признака блокирует генерацию зловредного контента.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